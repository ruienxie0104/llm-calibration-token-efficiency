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2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3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c7eedd0f58475a" /><Relationship Type="http://schemas.openxmlformats.org/officeDocument/2006/relationships/extended-properties" Target="/docProps/app.xml" Id="R6a3e34bade69417c" /><Relationship Type="http://schemas.openxmlformats.org/officeDocument/2006/relationships/officeDocument" Target="/ppt/presentation.xml" Id="R1f53e0519ff1498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307a6330801431c"/>
  </p:sldMasterIdLst>
  <p:notesMasterIdLst>
    <p:notesMasterId xmlns:r="http://schemas.openxmlformats.org/officeDocument/2006/relationships" r:id="Re805fb5d154b46ec"/>
  </p:notesMasterIdLst>
  <p:sldIdLst>
    <p:sldId xmlns:r="http://schemas.openxmlformats.org/officeDocument/2006/relationships" id="256" r:id="R430f8cde5d094ef4"/>
    <p:sldId xmlns:r="http://schemas.openxmlformats.org/officeDocument/2006/relationships" id="257" r:id="R60d8496dac47476f"/>
    <p:sldId xmlns:r="http://schemas.openxmlformats.org/officeDocument/2006/relationships" id="258" r:id="Rd9663c48141b4c33"/>
    <p:sldId xmlns:r="http://schemas.openxmlformats.org/officeDocument/2006/relationships" id="259" r:id="Rafabb7a4088a4dda"/>
    <p:sldId xmlns:r="http://schemas.openxmlformats.org/officeDocument/2006/relationships" id="260" r:id="R11a2dad6c5c14e6c"/>
    <p:sldId xmlns:r="http://schemas.openxmlformats.org/officeDocument/2006/relationships" id="261" r:id="Rb6a8fbbde4644aee"/>
    <p:sldId xmlns:r="http://schemas.openxmlformats.org/officeDocument/2006/relationships" id="262" r:id="Rd601b81659354c58"/>
    <p:sldId xmlns:r="http://schemas.openxmlformats.org/officeDocument/2006/relationships" id="263" r:id="R567d083cc48e441a"/>
    <p:sldId xmlns:r="http://schemas.openxmlformats.org/officeDocument/2006/relationships" id="264" r:id="R91c73a06106b4ad0"/>
    <p:sldId xmlns:r="http://schemas.openxmlformats.org/officeDocument/2006/relationships" id="265" r:id="Rb5a98664d19a4e89"/>
    <p:sldId xmlns:r="http://schemas.openxmlformats.org/officeDocument/2006/relationships" id="266" r:id="R3ce1a2db516941e1"/>
    <p:sldId xmlns:r="http://schemas.openxmlformats.org/officeDocument/2006/relationships" id="267" r:id="R5be08c0d929740e1"/>
    <p:sldId xmlns:r="http://schemas.openxmlformats.org/officeDocument/2006/relationships" id="268" r:id="R7cdf5dc4e28d4679"/>
    <p:sldId xmlns:r="http://schemas.openxmlformats.org/officeDocument/2006/relationships" id="269" r:id="R8baee167208647fa"/>
    <p:sldId xmlns:r="http://schemas.openxmlformats.org/officeDocument/2006/relationships" id="270" r:id="R404e0bad5c68490a"/>
    <p:sldId xmlns:r="http://schemas.openxmlformats.org/officeDocument/2006/relationships" id="271" r:id="R901af1786ed8446f"/>
    <p:sldId xmlns:r="http://schemas.openxmlformats.org/officeDocument/2006/relationships" id="272" r:id="R8c4f49cf197347c1"/>
    <p:sldId xmlns:r="http://schemas.openxmlformats.org/officeDocument/2006/relationships" id="273" r:id="R47969b7f7b674730"/>
    <p:sldId xmlns:r="http://schemas.openxmlformats.org/officeDocument/2006/relationships" id="274" r:id="R1915525dc2184c7e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ace9161842ee4ac3"/>
      <p:bold xmlns:r="http://schemas.openxmlformats.org/officeDocument/2006/relationships" r:id="R22e32de21dba4a9c"/>
      <p:italic xmlns:r="http://schemas.openxmlformats.org/officeDocument/2006/relationships" r:id="R1c94db64bd6f4b3e"/>
      <p:boldItalic xmlns:r="http://schemas.openxmlformats.org/officeDocument/2006/relationships" r:id="Rd5d98c44bc6f440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ca1183d1874f05" /><Relationship Type="http://schemas.openxmlformats.org/officeDocument/2006/relationships/slideMaster" Target="/ppt/slideMasters/slideMaster1.xml" Id="R8307a6330801431c" /><Relationship Type="http://schemas.openxmlformats.org/officeDocument/2006/relationships/notesMaster" Target="/ppt/notesMasters/notesMaster1.xml" Id="Re805fb5d154b46ec" /><Relationship Type="http://schemas.openxmlformats.org/officeDocument/2006/relationships/presProps" Target="/ppt/presProps.xml" Id="R8ac842152cb345b8" /><Relationship Type="http://schemas.openxmlformats.org/officeDocument/2006/relationships/viewProps" Target="/ppt/viewProps.xml" Id="R66837ac2c06a4422" /><Relationship Type="http://schemas.openxmlformats.org/officeDocument/2006/relationships/tableStyles" Target="/ppt/tableStyles.xml" Id="R059492b5250d4fe7" /><Relationship Type="http://schemas.openxmlformats.org/officeDocument/2006/relationships/font" Target="/ppt/fonts/font.dat" Id="Race9161842ee4ac3" /><Relationship Type="http://schemas.openxmlformats.org/officeDocument/2006/relationships/font" Target="/ppt/fonts/font2.dat" Id="R22e32de21dba4a9c" /><Relationship Type="http://schemas.openxmlformats.org/officeDocument/2006/relationships/font" Target="/ppt/fonts/font3.dat" Id="R1c94db64bd6f4b3e" /><Relationship Type="http://schemas.openxmlformats.org/officeDocument/2006/relationships/font" Target="/ppt/fonts/font4.dat" Id="Rd5d98c44bc6f440e" /><Relationship Type="http://schemas.openxmlformats.org/officeDocument/2006/relationships/slide" Target="/ppt/slides/slide1.xml" Id="R430f8cde5d094ef4" /><Relationship Type="http://schemas.openxmlformats.org/officeDocument/2006/relationships/slide" Target="/ppt/slides/slide2.xml" Id="R60d8496dac47476f" /><Relationship Type="http://schemas.openxmlformats.org/officeDocument/2006/relationships/slide" Target="/ppt/slides/slide3.xml" Id="Rd9663c48141b4c33" /><Relationship Type="http://schemas.openxmlformats.org/officeDocument/2006/relationships/slide" Target="/ppt/slides/slide4.xml" Id="Rafabb7a4088a4dda" /><Relationship Type="http://schemas.openxmlformats.org/officeDocument/2006/relationships/slide" Target="/ppt/slides/slide5.xml" Id="R11a2dad6c5c14e6c" /><Relationship Type="http://schemas.openxmlformats.org/officeDocument/2006/relationships/slide" Target="/ppt/slides/slide6.xml" Id="Rb6a8fbbde4644aee" /><Relationship Type="http://schemas.openxmlformats.org/officeDocument/2006/relationships/slide" Target="/ppt/slides/slide7.xml" Id="Rd601b81659354c58" /><Relationship Type="http://schemas.openxmlformats.org/officeDocument/2006/relationships/slide" Target="/ppt/slides/slide8.xml" Id="R567d083cc48e441a" /><Relationship Type="http://schemas.openxmlformats.org/officeDocument/2006/relationships/slide" Target="/ppt/slides/slide9.xml" Id="R91c73a06106b4ad0" /><Relationship Type="http://schemas.openxmlformats.org/officeDocument/2006/relationships/slide" Target="/ppt/slides/slide10.xml" Id="Rb5a98664d19a4e89" /><Relationship Type="http://schemas.openxmlformats.org/officeDocument/2006/relationships/slide" Target="/ppt/slides/slide11.xml" Id="R3ce1a2db516941e1" /><Relationship Type="http://schemas.openxmlformats.org/officeDocument/2006/relationships/slide" Target="/ppt/slides/slide12.xml" Id="R5be08c0d929740e1" /><Relationship Type="http://schemas.openxmlformats.org/officeDocument/2006/relationships/slide" Target="/ppt/slides/slide13.xml" Id="R7cdf5dc4e28d4679" /><Relationship Type="http://schemas.openxmlformats.org/officeDocument/2006/relationships/slide" Target="/ppt/slides/slide14.xml" Id="R8baee167208647fa" /><Relationship Type="http://schemas.openxmlformats.org/officeDocument/2006/relationships/slide" Target="/ppt/slides/slide15.xml" Id="R404e0bad5c68490a" /><Relationship Type="http://schemas.openxmlformats.org/officeDocument/2006/relationships/slide" Target="/ppt/slides/slide16.xml" Id="R901af1786ed8446f" /><Relationship Type="http://schemas.openxmlformats.org/officeDocument/2006/relationships/slide" Target="/ppt/slides/slide17.xml" Id="R8c4f49cf197347c1" /><Relationship Type="http://schemas.openxmlformats.org/officeDocument/2006/relationships/slide" Target="/ppt/slides/slide18.xml" Id="R47969b7f7b674730" /><Relationship Type="http://schemas.openxmlformats.org/officeDocument/2006/relationships/slide" Target="/ppt/slides/slide19.xml" Id="R1915525dc2184c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246a0d51f849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11fb1c65c446cc" /><Relationship Type="http://schemas.openxmlformats.org/officeDocument/2006/relationships/notesMaster" Target="/ppt/notesMasters/notesMaster1.xml" Id="Rd8ec0893abf641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3b2704ae89417c" /><Relationship Type="http://schemas.openxmlformats.org/officeDocument/2006/relationships/notesMaster" Target="/ppt/notesMasters/notesMaster1.xml" Id="Rd0f38de0ffb44a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a5ae18db164535" /><Relationship Type="http://schemas.openxmlformats.org/officeDocument/2006/relationships/notesMaster" Target="/ppt/notesMasters/notesMaster1.xml" Id="R32848e128cd84e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4d999e704e456f" /><Relationship Type="http://schemas.openxmlformats.org/officeDocument/2006/relationships/notesMaster" Target="/ppt/notesMasters/notesMaster1.xml" Id="Rabb7b35f8dd644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2e1ac4b540486f" /><Relationship Type="http://schemas.openxmlformats.org/officeDocument/2006/relationships/notesMaster" Target="/ppt/notesMasters/notesMaster1.xml" Id="R3ae3d915c45b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33558c0f434154" /><Relationship Type="http://schemas.openxmlformats.org/officeDocument/2006/relationships/notesMaster" Target="/ppt/notesMasters/notesMaster1.xml" Id="R76e0dd6f974f46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eb235c525649de" /><Relationship Type="http://schemas.openxmlformats.org/officeDocument/2006/relationships/notesMaster" Target="/ppt/notesMasters/notesMaster1.xml" Id="R248eb4f896344c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39d426ae054dad" /><Relationship Type="http://schemas.openxmlformats.org/officeDocument/2006/relationships/notesMaster" Target="/ppt/notesMasters/notesMaster1.xml" Id="R0763996a754f45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5e34cebad54f55" /><Relationship Type="http://schemas.openxmlformats.org/officeDocument/2006/relationships/notesMaster" Target="/ppt/notesMasters/notesMaster1.xml" Id="Re4eb6168b0d545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d6ef52b92540f1" /><Relationship Type="http://schemas.openxmlformats.org/officeDocument/2006/relationships/notesMaster" Target="/ppt/notesMasters/notesMaster1.xml" Id="Rbf51744aa19b48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39f28d1aca4e9a" /><Relationship Type="http://schemas.openxmlformats.org/officeDocument/2006/relationships/notesMaster" Target="/ppt/notesMasters/notesMaster1.xml" Id="R6a48d25681b04da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bb8482582d54a97" /><Relationship Type="http://schemas.openxmlformats.org/officeDocument/2006/relationships/notesMaster" Target="/ppt/notesMasters/notesMaster1.xml" Id="Ra21473b756bf42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25986cb88e4c4d" /><Relationship Type="http://schemas.openxmlformats.org/officeDocument/2006/relationships/notesMaster" Target="/ppt/notesMasters/notesMaster1.xml" Id="R485d8a3c5342401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711cd190d947c8" /><Relationship Type="http://schemas.openxmlformats.org/officeDocument/2006/relationships/notesMaster" Target="/ppt/notesMasters/notesMaster1.xml" Id="R9ca1b69eda3142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250da94feaa4be3" /><Relationship Type="http://schemas.openxmlformats.org/officeDocument/2006/relationships/notesMaster" Target="/ppt/notesMasters/notesMaster1.xml" Id="R3c162eeb7b19494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2173cebe99c4b90" /><Relationship Type="http://schemas.openxmlformats.org/officeDocument/2006/relationships/notesMaster" Target="/ppt/notesMasters/notesMaster1.xml" Id="R8a24915d80a548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7ae0bae65e34c8a" /><Relationship Type="http://schemas.openxmlformats.org/officeDocument/2006/relationships/notesMaster" Target="/ppt/notesMasters/notesMaster1.xml" Id="Ra7461f4ef2b6423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0a18149b17c4f26" /><Relationship Type="http://schemas.openxmlformats.org/officeDocument/2006/relationships/notesMaster" Target="/ppt/notesMasters/notesMaster1.xml" Id="Rddcd460429f549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c00d8fc2b4a4c2f" /><Relationship Type="http://schemas.openxmlformats.org/officeDocument/2006/relationships/notesMaster" Target="/ppt/notesMasters/notesMaster1.xml" Id="R232ba97c2be8452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開場先說研究問題：每題都給相同推理預算並不經濟。我們想讓系統先觀察模型的第一段輸出，再把有限的續寫資源留給最可能受益的題目。今天重點是目前已完成的方法框架與確認實驗。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這三類直接對應資源配置，而不是抽象的難度分類。系統真正需要知道的是：看到第一段輸出後，哪一題值得繼續。最理想的 policy 會停止已完成題目，優先處理已有可見進展的未完成題目。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這裡要區分成功機率與邊際收益。一題可能很難、成功率低，但多給 token 也沒有幫助。研究終點是判斷 continuation 的價值，並把這個判斷真正轉成 allocation policy。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這頁用來界定貢獻。自適應 test-time compute 已有研究，本研究的差異是使用者只看得到文字輸出時，能否在第一段推理後用 visible state 做低成本配置。這個定位比宣稱完整原創更穩健。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Snell, Lee, Xu &amp; Kumar (2024). Scaling LLM Test-Time Compute Optimally can be More Effective than Scaling Model Parameters. arXiv:2408.03314. https://arxiv.org/abs/2408.03314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Han et al. (2024; revised 2025). Token-Budget-Aware LLM Reasoning. arXiv:2412.18547. https://arxiv.org/abs/2412.18547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Wu, Zhou, Bates &amp; Jaakkola (2025). Thought calibration: Efficient and confident test-time scaling. EMNLP. https://aclanthology.org/2025.emnlp-main.722/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流程有四步：輸入題目、跑固定 prefix、判斷 visible state、選擇 stop 或 continuation。這個 controller 不需要知道模型內部 hidden state，也不需再呼叫一個評分模型，因此可用於一般 API 型服務。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https://github.com/ruienxie0104/llm-calibration-token-efficiency/blob/0d0a54e/experiments/v3-budget-pilot/research_overview_draft_zh.md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 代表 parser 已找到 final answer。Visible unfinished 代表看得到推導但沒有答案，是主方法選擇續寫的狀態。Empty unfinished 沒有 visible content，policy 先停止。分類不看答案是否正確，因此可在部署時使用。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這張圖是可部署 policy 的實際流程。所有題目先做 prefix。只有 visible unfinished 會再發 continuation request。Complete 直接保留答案，empty unfinished 若沒有答案則 unresolved。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https://github.com/ruienxie0104/llm-calibration-token-efficiency/blob/0d0a54e/experiments/v3-budget-pilot/research_overview_draft_zh.md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第一層確認 visible state 有辨識力。第二層把訊號實際轉成 allocation policy。第三層固定規則，再用新題目做確認。這個順序避免只報一個高 PR-AUC，卻沒有證明它能改善 accuracy-cost trade-off。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https://github.com/ruienxie0104/llm-calibration-token-efficiency/blob/0d0a54e/experiments/v3-budget-pilot/results/process_stage2p_report_formal.md</a:t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完整 action bank 讓我們知道每題在 stop 和 continue 下會發生什麼，因此可以公平重播 fixed low、fixed continue、random、question-only、visible-progress 與 oracle。正式部署不會每題都跑兩次。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https://github.com/ruienxie0104/llm-calibration-token-efficiency/blob/0d0a54e/experiments/v3-budget-pilot/results/process_stage3_formal_raw.json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主要 baseline 不是只匹配 continuation 數量，而是匹配預期實際 token。Random 對每題使用同一選擇機率，因此不含任何訊號。它是 action-bank 下的公平 evaluation benchmark，不代表線上 random 事先知道每次 future cost。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這是規則形成的依據。Visible unfinished 在兩模型都有高比例收益，complete 沒有正向收益，GPT 的 empty unfinished 也沒有收益。因此 Stage 3 在看到新資料前固定為只續寫 visible unfinished。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https://github.com/ruienxie0104/llm-calibration-token-efficiency/blob/0d0a54e/experiments/v3-budget-pilot/results/process_stage2p_report_formal.md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Stage 3 使用新的六十題，Level 3 和 4 各半。每題在兩個模型各有 prefix 與 continuation，共兩百四十筆。Bootstrap 以 question ID 重抽，確保同一題在兩模型的觀測一起保留。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https://github.com/ruienxie0104/llm-calibration-token-efficiency/blob/0d0a54e/experiments/v3-budget-pilot/results/process_stage3_formal_raw.json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這是主要結果。在完全相同的預期 continuation token 成本下，GPT 提升 9.62 個百分點，DeepSeek 提升 4.25 個百分點。Pooled 提升 6.78 點，信賴區間不含零。DeepSeek 只有四個 visible cases，所以個別模型證據量較少。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https://github.com/ruienxie0104/llm-calibration-token-efficiency/blob/0d0a54e/experiments/v3-budget-pilot/results/process_stage3_analysis.json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GPT 是最清楚的確認結果。Visible policy 與主要 random 成本完全相同，但多 9.62 個百分點。它也比所有題目都續寫更準，平均 token 少約百分之三十九。與 count-matched oracle 只差 1.67 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DeepSeek 多數題目在 prefix 已完成，因此配置機會只有四題。Visible policy 和全部續寫同為 86.67%，但平均 token 少約百分之四十八。三個 visible case 被救回，但事件數低於事前設定的五題 support threshold。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https://github.com/ruienxie0104/llm-calibration-token-efficiency/blob/0d0a54e/experiments/v3-budget-pilot/results/process_stage3_report.md</a:t>
            </a:r>
          </a:p>
          <a:p xmlns:a="http://schemas.openxmlformats.org/drawingml/2006/main">
            <a:r>
              <a:t>資料版本：GitHub commit 0d0a54e。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機制很直觀：complete 幾乎沒有正向收益，GPT 甚至有三題被續寫改壞。Visible unfinished 的收益最集中。Empty unfinished 偶爾可能成功，但大多 unresolved。這支持把 visible progress 作為第一個簡單 controller。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https://github.com/ruienxie0104/llm-calibration-token-efficiency/blob/0d0a54e/experiments/v3-budget-pilot/results/process_stage3_analysis.json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貢獻不在複雜模型，而在把 observable state 轉成可部署 policy，並用成本匹配的 action bank 驗證。這種設計明確區分 prediction performance 與真正的 allocation performance。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目前已足以形成方法論主線，但外部泛化仍是下一步。最重要的是換任務與預算，並使用事先指定的全域 ledger，讓線上 policy 在不知道 future cost 的情況下也能接受公平評估。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https://github.com/ruienxie0104/llm-calibration-token-efficiency/blob/0d0a54e/experiments/v3-budget-pilot/results/process_stage3_report.md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最後希望老師協助三件事：確認 visible-progress 是否作為論文主軸，選擇最有價值的外部驗證，以及決定投稿時要強調 black-box controller、process state 還是成本匹配的 evaluation design。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https://github.com/ruienxie0104/llm-calibration-token-efficiency/blob/0d0a54e/experiments/v3-budget-pilot/research_overview_draft_zh.md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資料版本：GitHub commit 0d0a54e。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883fb2d554a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bb00f198084f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2fe4855bd4c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7303674c024f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9ce24d51c4c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60810ec2f4a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be822cf77460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9f4c8bbfbe45b2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4944a27619443a" /><Relationship Type="http://schemas.openxmlformats.org/officeDocument/2006/relationships/slideLayout" Target="/ppt/slideLayouts/slideLayout1.xml" Id="R429a1833637840f4" /><Relationship Type="http://schemas.openxmlformats.org/officeDocument/2006/relationships/slideLayout" Target="/ppt/slideLayouts/slideLayout2.xml" Id="Re9fec86d1f644dfe" /><Relationship Type="http://schemas.openxmlformats.org/officeDocument/2006/relationships/slideLayout" Target="/ppt/slideLayouts/slideLayout3.xml" Id="R8ed5aac887724df0" /><Relationship Type="http://schemas.openxmlformats.org/officeDocument/2006/relationships/slideLayout" Target="/ppt/slideLayouts/slideLayout4.xml" Id="Rb945a88b7e154fd3" /><Relationship Type="http://schemas.openxmlformats.org/officeDocument/2006/relationships/slideLayout" Target="/ppt/slideLayouts/slideLayout5.xml" Id="R51795316bb694760" /><Relationship Type="http://schemas.openxmlformats.org/officeDocument/2006/relationships/slideLayout" Target="/ppt/slideLayouts/slideLayout6.xml" Id="R0de5030abda9463f" /><Relationship Type="http://schemas.openxmlformats.org/officeDocument/2006/relationships/slideLayout" Target="/ppt/slideLayouts/slideLayout7.xml" Id="R959e3a6cfbf64e53" /><Relationship Type="http://schemas.openxmlformats.org/officeDocument/2006/relationships/slideLayout" Target="/ppt/slideLayouts/slideLayout8.xml" Id="R424b009dfe4540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0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0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9a1833637840f4"/>
    <p:sldLayoutId xmlns:r="http://schemas.openxmlformats.org/officeDocument/2006/relationships" id="2147483650" r:id="Re9fec86d1f644dfe"/>
    <p:sldLayoutId xmlns:r="http://schemas.openxmlformats.org/officeDocument/2006/relationships" id="2147483651" r:id="R8ed5aac887724df0"/>
    <p:sldLayoutId xmlns:r="http://schemas.openxmlformats.org/officeDocument/2006/relationships" id="2147483652" r:id="Rb945a88b7e154fd3"/>
    <p:sldLayoutId xmlns:r="http://schemas.openxmlformats.org/officeDocument/2006/relationships" id="2147483653" r:id="R51795316bb694760"/>
    <p:sldLayoutId xmlns:r="http://schemas.openxmlformats.org/officeDocument/2006/relationships" id="2147483654" r:id="R0de5030abda9463f"/>
    <p:sldLayoutId xmlns:r="http://schemas.openxmlformats.org/officeDocument/2006/relationships" id="2147483655" r:id="R959e3a6cfbf64e53"/>
    <p:sldLayoutId xmlns:r="http://schemas.openxmlformats.org/officeDocument/2006/relationships" id="2147483656" r:id="R424b009dfe45406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9e98bd2ff4c3c" /><Relationship Type="http://schemas.openxmlformats.org/officeDocument/2006/relationships/notesSlide" Target="/ppt/notesSlides/notesSlide1.xml" Id="R5c861cc09b8f43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5e289f39b0402e" /><Relationship Type="http://schemas.openxmlformats.org/officeDocument/2006/relationships/notesSlide" Target="/ppt/notesSlides/notesSlide2.xml" Id="Re82649726d20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f09a31ddfc49cc" /><Relationship Type="http://schemas.openxmlformats.org/officeDocument/2006/relationships/notesSlide" Target="/ppt/notesSlides/notesSlide3.xml" Id="R94f501d4df5140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0999932c948b4" /><Relationship Type="http://schemas.openxmlformats.org/officeDocument/2006/relationships/notesSlide" Target="/ppt/notesSlides/notesSlide4.xml" Id="R89ac842ffe9148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d36377e2742d4" /><Relationship Type="http://schemas.openxmlformats.org/officeDocument/2006/relationships/notesSlide" Target="/ppt/notesSlides/notesSlide5.xml" Id="Raa51c939f24948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b1e2e3b5044e4f" /><Relationship Type="http://schemas.openxmlformats.org/officeDocument/2006/relationships/notesSlide" Target="/ppt/notesSlides/notesSlide6.xml" Id="R015e354f3a784c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12f5ead1a34fd1" /><Relationship Type="http://schemas.openxmlformats.org/officeDocument/2006/relationships/notesSlide" Target="/ppt/notesSlides/notesSlide7.xml" Id="R6394dac127824a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c57a5b4144b84" /><Relationship Type="http://schemas.openxmlformats.org/officeDocument/2006/relationships/notesSlide" Target="/ppt/notesSlides/notesSlide8.xml" Id="R35919a2cacc64cf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610a68ed2a4d32" /><Relationship Type="http://schemas.openxmlformats.org/officeDocument/2006/relationships/notesSlide" Target="/ppt/notesSlides/notesSlide9.xml" Id="Ra8cf8b43f7b24a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7fd24e2413448b" /><Relationship Type="http://schemas.openxmlformats.org/officeDocument/2006/relationships/notesSlide" Target="/ppt/notesSlides/notesSlide10.xml" Id="R581d14232d9642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cfa95f0c674564" /><Relationship Type="http://schemas.openxmlformats.org/officeDocument/2006/relationships/notesSlide" Target="/ppt/notesSlides/notesSlide11.xml" Id="R113390f60ada44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2fe9cc32a48dc" /><Relationship Type="http://schemas.openxmlformats.org/officeDocument/2006/relationships/notesSlide" Target="/ppt/notesSlides/notesSlide12.xml" Id="R36267a042714476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a63c1e0d3b480c" /><Relationship Type="http://schemas.openxmlformats.org/officeDocument/2006/relationships/chart" Target="/ppt/slides/charts/chart1.xml" Id="R6465dec807a540d6" /><Relationship Type="http://schemas.openxmlformats.org/officeDocument/2006/relationships/notesSlide" Target="/ppt/notesSlides/notesSlide13.xml" Id="R44efbafc4a4249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296204f264cb0" /><Relationship Type="http://schemas.openxmlformats.org/officeDocument/2006/relationships/chart" Target="/ppt/slides/charts/chart2.xml" Id="Rf8685caf0a174c06" /><Relationship Type="http://schemas.openxmlformats.org/officeDocument/2006/relationships/notesSlide" Target="/ppt/notesSlides/notesSlide14.xml" Id="Ree276da9d84442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2521aa882b42df" /><Relationship Type="http://schemas.openxmlformats.org/officeDocument/2006/relationships/chart" Target="/ppt/slides/charts/chart3.xml" Id="R0da7f71697fd43e8" /><Relationship Type="http://schemas.openxmlformats.org/officeDocument/2006/relationships/notesSlide" Target="/ppt/notesSlides/notesSlide15.xml" Id="Rcf2f8789a709454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0a7874fb944f5" /><Relationship Type="http://schemas.openxmlformats.org/officeDocument/2006/relationships/notesSlide" Target="/ppt/notesSlides/notesSlide16.xml" Id="R9fa4edb489174e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d6ba6ca7b441bb" /><Relationship Type="http://schemas.openxmlformats.org/officeDocument/2006/relationships/notesSlide" Target="/ppt/notesSlides/notesSlide17.xml" Id="R067a80abb3cc433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b515ad740246a5" /><Relationship Type="http://schemas.openxmlformats.org/officeDocument/2006/relationships/notesSlide" Target="/ppt/notesSlides/notesSlide18.xml" Id="R046c47ff4146489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cccaebc214155" /><Relationship Type="http://schemas.openxmlformats.org/officeDocument/2006/relationships/notesSlide" Target="/ppt/notesSlides/notesSlide19.xml" Id="Redb64e29760f4bb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Cost-calibrated random</c:v>
          </c:tx>
          <c:spPr>
            <a:solidFill xmlns:a="http://schemas.openxmlformats.org/drawingml/2006/main">
              <a:srgbClr val="6DCBF4"/>
            </a:solidFill>
          </c:spPr>
          <c:cat>
            <c:strRef>
              <c:f>'Chart Data'!$A$2:$A$3</c:f>
              <c:strCache>
                <c:ptCount val="2"/>
                <c:pt idx="0">
                  <c:v>GPT-120B</c:v>
                </c:pt>
                <c:pt idx="1">
                  <c:v>DeepSeek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60.38</c:v>
                </c:pt>
                <c:pt idx="1">
                  <c:v>82.42</c:v>
                </c:pt>
              </c:numCache>
            </c:numRef>
          </c:val>
        </c:ser>
        <c:ser>
          <c:idx val="1"/>
          <c:order val="1"/>
          <c:tx>
            <c:v>Visible-Progress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Data'!$C$2:$C$3</c:f>
              <c:strCache>
                <c:ptCount val="2"/>
                <c:pt idx="0">
                  <c:v>GPT-120B</c:v>
                </c:pt>
                <c:pt idx="1">
                  <c:v>DeepSeek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70</c:v>
                </c:pt>
                <c:pt idx="1">
                  <c:v>86.67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5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161616"/>
              </a:solidFill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D8DFF"/>
            </a:solidFill>
          </c:spPr>
          <c:cat>
            <c:strRef>
              <c:f>'Chart Data'!$A$2:$A$6</c:f>
              <c:strCache>
                <c:ptCount val="5"/>
                <c:pt idx="0">
                  <c:v>Fixed Low</c:v>
                </c:pt>
                <c:pt idx="1">
                  <c:v>Random</c:v>
                </c:pt>
                <c:pt idx="2">
                  <c:v>Question-only</c:v>
                </c:pt>
                <c:pt idx="3">
                  <c:v>Visible</c:v>
                </c:pt>
                <c:pt idx="4">
                  <c:v>Fixed Continue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58.33</c:v>
                </c:pt>
                <c:pt idx="1">
                  <c:v>60.38</c:v>
                </c:pt>
                <c:pt idx="2">
                  <c:v>66.67</c:v>
                </c:pt>
                <c:pt idx="3">
                  <c:v>70</c:v>
                </c:pt>
                <c:pt idx="4">
                  <c:v>66.67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75"/>
          <c:min val="50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275A9B"/>
            </a:solidFill>
          </c:spPr>
          <c:cat>
            <c:strRef>
              <c:f>'Chart Data'!$A$2:$A$5</c:f>
              <c:strCache>
                <c:ptCount val="4"/>
                <c:pt idx="0">
                  <c:v>Fixed Low</c:v>
                </c:pt>
                <c:pt idx="1">
                  <c:v>Random</c:v>
                </c:pt>
                <c:pt idx="2">
                  <c:v>Visible</c:v>
                </c:pt>
                <c:pt idx="3">
                  <c:v>Fixed Continue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81.67</c:v>
                </c:pt>
                <c:pt idx="1">
                  <c:v>82.42</c:v>
                </c:pt>
                <c:pt idx="2">
                  <c:v>86.67</c:v>
                </c:pt>
                <c:pt idx="3">
                  <c:v>86.67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61616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90"/>
          <c:min val="75"/>
        </c:scaling>
        <c:delete val="0"/>
        <c:axPos val="l"/>
        <c:majorGridlines>
          <c:spPr>
            <a:ln xmlns:a="http://schemas.openxmlformats.org/drawingml/2006/main" w="4763">
              <a:solidFill>
                <a:srgbClr val="E5E5E5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Heiti TC"/>
                    <a:ea typeface="Heiti TC"/>
                    <a:cs typeface="Heiti TC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iti TC"/>
                  <a:ea typeface="Heiti TC"/>
                  <a:cs typeface="Heiti T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51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可觀察進度驅動的</a:t>
            </a:r>
          </a:p>
          <a:p xmlns:a="http://schemas.openxmlformats.org/drawingml/2006/main">
            <a:pPr>
              <a:buNone/>
              <a:defRPr sz="51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51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推理資源分配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10668000" cy="120015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Visible-Progress Allocation for Test-Time Compute</a:t>
            </a:r>
          </a:p>
          <a:p xmlns:a="http://schemas.openxmlformats.org/drawingml/2006/main">
            <a:pPr>
              <a:lnSpc>
                <a:spcPct val="100000"/>
              </a:lnSpc>
              <a:buNone/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研究框架、確認實驗與最新結果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LLM 推理效率研究 · 指導討論 · 2026.09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CBAEABBA-AD62-52D1-5588-17C604158753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有限的 test-time compute 應該分給哪些題目？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B834EBB-DC49-4E48-9F0A-38F142A40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研究目標：在相同實際 token 成本下，提高整體正確率。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56D6274-8690-4C2C-B164-42E67984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固定長度無法區分已完成、可續寫完成，以及缺乏可見進展的案例。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0F3444E1-1F22-434E-8DA5-851EA2A8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已完成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D2008C10-9D7C-4E73-8B23-DEEFC3DA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再增加推理通常沒有收益，甚至可能改壞原本答案。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適合及早停止。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A2FA00F-10EB-4270-8BC3-19DE3772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有進展但未完成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6FF010CD-81D6-4491-B101-62EE3A58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模型已有可觀察的推導內容，只差完成答案。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最值得優先投入 continuation。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A6F89EAD-D9F5-4CE2-8641-6ED95D35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沒有可見進展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7F5CBCD4-8C81-43E6-94B3-071E7ED7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低預算內沒有留下可用內容。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追加相同動作的價值通常較低。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0BADEEDC-EEE1-8597-0639-A35D9BA153EC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研究問題與核心假設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B64CFAD3-3079-42BD-BADC-F0CE460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決策發生在 prefix 之後、continuation 之前；不使用答案或未來結果。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9B19D398-E59B-491F-8B72-6070A2A9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研究焦點是額外運算的邊際價值，而非只預測題目會不會答對。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A41FD381-E20D-4D61-92EC-1D8B39A8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研究問題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B890881C-9591-4F44-85D3-CE4F14C8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模型完成第一段推理後，能否只根據可見輸出，預測 continuation 是否值得？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在總資源有限時，這個訊號能否改善 accuracy–cost trade-off？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8B0F7D5F-DFAF-470D-AFCB-0E59047E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核心假設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017DEC8B-A2DB-4C71-8902-217A1E08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可見推理進度反映模型是否接近可交付答案。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只對 visible unfinished 案例續寫，應能比不看訊號的分配方式更有效。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F9970F6C-59B2-055B-5132-2DC31A7003A7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04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研究定位：自適應計算已有文獻，本研究聚焦可觀察的 post-prefix 狀態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8DE6C433-F0F6-4E07-AA33-C9332FEE1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不主張首次研究自適應運算；具體切入點是 black-box、post-prefix、observable progress 與 continuation value。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9C45BA1-4608-43AA-889D-FC5F03B9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相關工作已研究 test-time scaling、token budget 與停止策略；本研究處理 black-box API 下的可部署決策。</a:t>
            </a:r>
          </a:p>
        </p:txBody>
      </p:sp>
      <p:graphicFrame>
        <p:nvGraphicFramePr>
          <p:cNvPr id="544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2857500"/>
                <a:gridCol w="6165818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研究線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代表工作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與本研究的關係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Test-time scaling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Snell et al., 2024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運算量應依題目調整，而非固定分配。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Token budget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Han et al., 2024/25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預算提示可改變推理長度與效率。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Adaptive stopping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Wu et al., 2025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推理中的狀態可支援停止決策。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本研究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Visible-Progress Allocation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只讀 visible content，在 prefix 後決定是否續寫。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5370F4AC-E6D1-01EE-6732-05F7C8E78B55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Visible-Progress Allocation 的整體框架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DF4BD6-D030-4C9C-B0E5-84F5C8643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Controller 只讀 visible content；hidden thinking 僅保留作 audit，不進入決策。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258C33-EC68-4360-85BC-DDB6E87E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21431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57623-D606-46B7-BFF7-F0D49BEC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800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題目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360ACF-0A24-45A8-9AE5-182857AC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18002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輸入數學問題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4526DC-F84A-4B60-962E-0E1689E6E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4766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7B3F20-39CB-4F3D-BF1F-BC9FC838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381250"/>
            <a:ext cx="2333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E638D3-CE01-4B52-A8C0-BC19F3E0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2647950"/>
            <a:ext cx="1990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Prefix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03FABF-532D-4570-ACA8-16653844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314700"/>
            <a:ext cx="19907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512-token 初次推理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7E0155-9C3D-4692-A64A-944F1FD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766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F2B125-6A03-4257-AB24-6A5B20AC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81250"/>
            <a:ext cx="2571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8FF"/>
          </a:solidFill>
          <a:ln xmlns:a="http://schemas.openxmlformats.org/drawingml/2006/main" w="9525">
            <a:solidFill>
              <a:srgbClr val="3D8D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E20843-8B63-4227-817C-CE72DF26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479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Progress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956B4-D6F9-45A1-B8EB-9297F71F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14700"/>
            <a:ext cx="2228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complete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 unfinished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empty unfinished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EC28D3-DF1A-440F-A192-9ED6ECD1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76625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A765EF-79EF-41D0-83E4-F515EF75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81250"/>
            <a:ext cx="2457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81DD49-BAA1-4CE9-B2D9-B2D771D8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479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Action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C00466-BA7E-4AFE-A682-B0C6B56B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1145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stop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或 contextual continuation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48486F-E3FF-4FA9-9F7C-B06AEFC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81125"/>
            <a:ext cx="114014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共同目標：用較少的額外運算，得到更多正確答案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39BFB0FA-5DC7-50DB-D53A-0B6D0E34987E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三種可觀察進度狀態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57084DE-7484-44BC-A9F9-EF7CB0B5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Brace-aware parser 處理巢狀 LaTeX；continuation 無可解析答案時採用既定 fallback 規則。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2B638F7E-168F-4F32-89E8-B02A21D9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狀態分類完全由 prefix 的 visible content 與答案 parser 決定。</a:t>
            </a:r>
          </a:p>
        </p:txBody>
      </p:sp>
      <p:graphicFrame>
        <p:nvGraphicFramePr>
          <p:cNvPr id="544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143375"/>
                <a:gridCol w="1952625"/>
                <a:gridCol w="3117818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State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可觀察定義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Policy action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解讀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已有可解析 boxed answer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Stop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答案已可交付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 final answer，但有非空推理內容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Continue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已有進展，可能只差完成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empty_unfinished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 final answer，visible content 為空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Stop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沒有可用進度可承接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C1C5B3A8-B30B-D205-8921-516C108AB9AB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07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從 prefix 到最終答案的執行流程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F0395-5302-4EFC-84DC-B532F258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Contextual continuation 保留原題與 visible prefix，要求模型接續既有工作，不重新開始。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80EF57-E11E-4E22-989C-3DF8B25A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85875"/>
            <a:ext cx="114014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每一題先付出相同的 prefix 成本，再依狀態決定是否追加一次運算。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DBA45D-C97E-4D49-97E6-2326C316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2000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B5AF87-3B4E-4786-845E-8D5D029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051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Prefix state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99CA1F-2F25-4C08-B6ED-68925459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38375"/>
            <a:ext cx="80010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4B4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5D9008-74F7-42B9-A155-7EDD11E1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38375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A46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E0A19B-4272-4FAD-8BBE-36AF01BD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4792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A46C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0A46C"/>
                </a:solidFill>
                <a:latin typeface="Heiti TC"/>
                <a:ea typeface="Heiti TC"/>
                <a:cs typeface="Heiti TC"/>
              </a:rPr>
              <a:t>complete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98DA6-F26E-447C-915A-F4695F25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0032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A46C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A833ABB-C3BD-4061-8C91-09CEEA5F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3837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A46C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6BE6DF-552B-4BB8-A51D-45716D42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479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0A46C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0A46C"/>
                </a:solidFill>
                <a:latin typeface="Heiti TC"/>
                <a:ea typeface="Heiti TC"/>
                <a:cs typeface="Heiti TC"/>
              </a:rPr>
              <a:t>Stop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808472-A250-4F5F-A496-AEC1E92C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032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0A46C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0CE76E-A320-46D2-A8B8-AB0201A1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prefix answer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CAE840-95D3-4390-BCE9-4D8034F1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33750"/>
            <a:ext cx="800100" cy="152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4B4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F5D84A-38CD-4529-BDE3-7AAA9A2C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DA124B-8FB6-4E90-80EA-B1E7E3E2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43300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visible_unfinished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8881B6-3FC2-410E-85E7-3BBB269B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9570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5E5511-D14E-4C73-A55A-FE6993B3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333750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96BB32-C4ED-439A-A936-FAFAEB06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Continue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43CE57-63EC-4320-AE24-C41478FE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17381D-1B90-4369-BD27-B9615D82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476625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continuation answer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FF39471-69DD-4F07-BBB5-48EB6C69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80010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4B4B4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2C5750-0522-4A06-AC47-3D46AA774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29125"/>
            <a:ext cx="2571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862B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F43763-614F-4A39-84F5-58CEDBCD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38675"/>
            <a:ext cx="220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862B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E6862B"/>
                </a:solidFill>
                <a:latin typeface="Heiti TC"/>
                <a:ea typeface="Heiti TC"/>
                <a:cs typeface="Heiti TC"/>
              </a:rPr>
              <a:t>empty_unfinished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B3173A-D5E0-441E-BB42-5DC9FC42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91075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862B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755B7BF-09E9-48D7-9030-FBF9AC89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429125"/>
            <a:ext cx="1666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862B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2F09C5-113E-4ED3-ADF6-84DA97E8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386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6862B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E6862B"/>
                </a:solidFill>
                <a:latin typeface="Heiti TC"/>
                <a:ea typeface="Heiti TC"/>
                <a:cs typeface="Heiti TC"/>
              </a:rPr>
              <a:t>Stop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D44F92-E707-4BCB-9865-7DD518D03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91075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862B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626FB2B-BE90-4E5D-B45E-3F369CB6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72000"/>
            <a:ext cx="190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unresolved / prefix fallback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BBF0163-E4B1-61D1-776D-45470B16F0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22E54B70-3376-18BE-56BD-5BB8BA701776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08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實驗架構：訊號、介入與獨立確認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9A81B9-4DB4-465A-8AD1-B2C5B6508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Stage 3 的規則在新題目結果出現前已固定，避免同一批資料挑規則又報成效。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E6100E-4409-46B4-88A9-DB4007D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33500"/>
            <a:ext cx="11401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三層設計把「能預測」與「能改善資源配置」分開驗證。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124BEA-A026-4E56-A890-72F07842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A9A9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BA5F12-C97C-43B4-BB84-C6D425B1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24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Signal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720923-727C-4C6E-B555-B0F00901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90875"/>
            <a:ext cx="3568732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E5F53E-446A-4AED-A39A-7C77A03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4290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訊號驗證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2EBA3C-D6DA-4D49-9C13-5C381414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4000500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用 prefix state 預測 continuation 的邊際收益。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Process PR-AUC 0.795。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04B386-BA41-4EA9-86FE-F1B3839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524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9F0996-550C-4ADD-83A8-C8402694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90875"/>
            <a:ext cx="3568732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AB9564-F99E-41FF-A799-F426352C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32" y="34290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介入式比較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CF6E05-9DAD-4FCE-8DB1-80A45E88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32" y="4000500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共同 action bank 重播不同 policy。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比較 accuracy 與實際 token。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D9BE1E-1D14-4D60-ACBC-6486C37F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24125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Confirm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04B066-673C-4E8C-B74F-8097FFD3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568732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6D6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CB7E2B-23ED-4FC9-969C-B0639D02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321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Held-out confirmation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B16CD0-77FA-4B7C-8DC5-65A3C0CB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 visible-only rule。</a:t>
            </a:r>
          </a:p>
          <a:p xmlns:a="http://schemas.openxmlformats.org/drawingml/2006/main">
            <a:pPr>
              <a:defRPr sz="18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在全新題目上重新測試。</a:t>
            </a:r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44235D47-801C-AA1F-E2A0-5E98061CBF6D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09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共同 action bank 與公平比較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69C7AE05-8FC7-4C46-B761-F603718F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收集完整 action bank 是 evaluation instrument；部署時只會執行 policy 選中的 continuation。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AC9B7882-4227-4B63-84F7-E7CA2680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每個 model-question unit 都收集 prefix 與 continuation，讓所有政策共享相同潛在結果。</a:t>
            </a:r>
          </a:p>
        </p:txBody>
      </p:sp>
      <p:graphicFrame>
        <p:nvGraphicFramePr>
          <p:cNvPr id="544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428750"/>
                <a:gridCol w="4572000"/>
                <a:gridCol w="3308318"/>
              </a:tblGrid>
              <a:tr h="97631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Action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Budget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輸入內容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用途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Prefix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題目與作答格式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形成低成本結果與 progress state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Continuation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原題、visible prefix、接續指令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形成選擇追加運算時的高 action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97631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Policy replay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—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同一組 action records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比較 stop / continue 的 final accuracy 與成本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DB7BEEEC-A170-5376-2B6E-CB54687B0CB1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10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主要比較：匹配實際 continuation token 成本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4C845867-971C-466C-BC7E-F43F374A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主要 estimand：ΔAccuracy = Visible-Progress − cost-calibrated random。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5C8BE06-EF64-4170-8BD8-601B802C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同樣選幾題不代表同樣成本，因為每次 continuation 的實際 token 不同。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9CE22AD7-B13C-4095-BBC5-50CB9A30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Visible-Progress 的成本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2C45BF33-74A4-4954-8595-B6382F7F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只對 visible unfinished 續寫。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Cᵥ = Σ Vᵢ cᵢᴴ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Vᵢ：是否為 visible unfinished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cᵢᴴ：實際 continuation tokens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55EC7F43-AF00-4213-8500-35D6C516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Cost-calibrated random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F26DB767-AD79-4C0E-A7D8-3DE14ADE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Random 不看 state、題目或結果。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 = Cᵥ / Σ cᵢᴴ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因此 E[random continuation cost] = Cᵥ。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30394428-F1DC-E5F6-DB0C-7DE31F3D8A23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11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Development evidence：visible unfinished 最常從 continuation 受益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43ED4BFB-5F9F-454A-BAF0-F74B2128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這批資料用來選擇 policy；正式成效由下一批 held-out Stage 3 題目判定。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1BAE962A-09A8-4D12-8DB1-EA60083C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Stage 2P 的 state-level outcomes 用來固定 Stage 3 的 visible-only rule。</a:t>
            </a:r>
          </a:p>
        </p:txBody>
      </p:sp>
      <p:graphicFrame>
        <p:nvGraphicFramePr>
          <p:cNvPr id="544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2571750"/>
                <a:gridCol w="1285875"/>
                <a:gridCol w="1285875"/>
                <a:gridCol w="3975068"/>
              </a:tblGrid>
              <a:tr h="7810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Prefix state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案例數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受益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結果解讀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GPT-OSS-120B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11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多數可由 contextual continuation 完成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GPT-OSS-120B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empty_unfinished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6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沒有可見進展時未觀察到收益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方向與 GPT 一致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兩模型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98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已完成題目不需要再分配 token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4DB16885-0D3F-A391-B669-3211DB3B26E8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12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Stage 3：獨立 held-out confirmatory experiment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E3502629-8F0F-4249-9132-AC2D1668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正式資料 240 records，無 missing action、無 API error、無 duplicate。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384AC40E-2865-40FD-B362-3F528747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題目不曾用於選擇 visible-only rule；資料完整性由 manifest 與 raw-record audit 檢查。</a:t>
            </a:r>
          </a:p>
        </p:txBody>
      </p:sp>
      <p:graphicFrame>
        <p:nvGraphicFramePr>
          <p:cNvPr id="544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095750"/>
                <a:gridCol w="4975193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項目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設定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目的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正式題目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60 題 MATH-500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30 L3 + 30 L4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新的 confirmatory sample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GPT-OSS-120B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DeepSeek-V4-Flash-158B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檢查跨模型方向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Actions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512-token prefix</a:t>
                      </a:r>
                    </a:p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512-token continuation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同一 action bank 比較政策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Inference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10,000 次 question-clustered bootstrap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以題目為重抽單位，保留兩模型觀測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2DD23107-4986-8758-3A93-3D74F35908CC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13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相同預期 continuation 成本下，Visible-Progress 的正確率較高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0A41A0-9825-4D84-AEF7-38ED5B58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主要 comparator 是成本校準的 action-bank benchmark；pooled inference 採 question-clustered bootstrap。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74E832-EFAD-476D-B119-A32BC957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1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兩模型方向一致；pooled accuracy difference = +6.78pp，95% CI [3.48, 10.22]。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334125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65dec807a540d6"/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733CF2-3D4B-4D39-B4CC-53DB41A1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+9.62pp　GPT</a:t>
            </a:r>
          </a:p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+4.25pp　DeepSeek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BEAACD-4C30-4734-8AA3-4F1CDD2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Cost identity error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Pooled CI 不含 0。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 有 12 個 visible cases；DeepSeek 有 4 個，因此後者視為方向一致的支持證據。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327921A4-25C4-3DB4-06B1-32693CEE2241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14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GPT-OSS-120B：更高正確率，且比全部續寫少 39% tokens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A83FE6-8ADE-4C8A-B021-4129D78C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Mean total tokens 包含 prefix 與被選中的 continuation request。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BDDCD0-0759-4A5A-A021-1FE0096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1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Visible-Progress 選擇 12/60 題 continuation；accuracy 70.00%。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334125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685caf0a174c06"/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72C91A3-2170-46C5-B6F2-C1E9A7CD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70.00% @ 667.9 tokens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7BF974-92DD-403E-8106-62197634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Cost-matched random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60.38% @ 667.9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Fixed Continue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66.67% @ 1095.8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 policy 接近 oracle 71.67%。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EA83FA91-883A-0168-8075-96CEB9DCA3C2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15</a:t>
            </a:fld>
            <a:endParaRPr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DeepSeek：維持全部續寫的正確率，平均 tokens 減少 48%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6A51C4-C984-46C2-BE94-F8EEF561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DeepSeek 的結果顯示方法價值取決於 prefix 後仍有多少可分配案例。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146B30-A1EC-4C3D-B248-D96EBCB6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23950"/>
            <a:ext cx="114014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56/60 題已在 prefix 完成；只有 4 題進入 visible continuation。</a:t>
            </a:r>
          </a:p>
        </p:txBody>
      </p:sp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590550" y="1952625"/>
          <a:ext xmlns:a="http://schemas.openxmlformats.org/drawingml/2006/main" cx="6334125" cy="39243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a7f71697fd43e8"/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F75AAD-0732-437A-83CA-63552084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669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86.67% @ 381.8 tokens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B60A14-4EC5-48DB-8464-21DB1851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409575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Fixed Continue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86.67% @ 733.2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4 個 visible cases 中</a:t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3 個受益。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事件少，個別模型證據量有限。</a:t>
            </a:r>
          </a:p>
        </p:txBody>
      </p:sp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27489CDA-073D-5D98-B832-86AD74222B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DC9C7607-4BA3-B4DC-A00F-2E67A9FCFF7E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8EBC4B8-BBC1-7C2A-F77D-BEC6394B0F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為什麼有效：continuation value 集中在 visible unfinished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08374BCF-51A7-4E0A-A3B9-6A44E5A0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Benefit＝prefix incorrect、continuation final correct；unresolved＝continuation 無可解析 final answer。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56C67BC-232D-441A-9C23-8D4B48C5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620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Stage 3 的 state-level outcomes 顯示，狀態對額外運算的邊際價值有直接區分。</a:t>
            </a:r>
          </a:p>
        </p:txBody>
      </p:sp>
      <p:graphicFrame>
        <p:nvGraphicFramePr>
          <p:cNvPr id="544" name=""/>
          <p:cNvGraphicFramePr/>
          <p:nvPr/>
        </p:nvGraphicFramePr>
        <p:xfrm>
          <a:off xmlns:a="http://schemas.openxmlformats.org/drawingml/2006/main" x="393668" y="2133600"/>
          <a:ext xmlns:a="http://schemas.openxmlformats.org/drawingml/2006/main" cx="11404568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714625"/>
                <a:gridCol w="1476375"/>
                <a:gridCol w="3333750"/>
                <a:gridCol w="2070068"/>
              </a:tblGrid>
              <a:tr h="6508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模型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State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Benefit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Unchanged / Harm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Unresolved</a:t>
                      </a:r>
                    </a:p>
                  </a:txBody>
                  <a:tcPr marL="85725" marR="85725" marT="85725" marB="76200" anchor="ctr">
                    <a:solidFill>
                      <a:srgbClr val="F0F0F0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35 unchanged / 3 harm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7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 unchanged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4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GPT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empty_unfinished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9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complete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56 unchanged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DeepSeek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visible_unfinished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3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0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61616"/>
                          </a:solidFill>
                          <a:latin typeface="Heiti TC"/>
                          <a:ea typeface="Heiti TC"/>
                          <a:cs typeface="Heiti TC"/>
                        </a:rPr>
                        <a:t>1</a:t>
                      </a:r>
                    </a:p>
                  </a:txBody>
                  <a:tcPr marL="85725" marR="85725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5487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90F7333B-44AC-F7E9-D49D-FE92F45E0477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研究貢獻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24837000-FB94-4687-8DF0-47458EF3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方法簡單，但可以直接嵌入 black-box LLM API 的推理流程。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06518FFD-8A5D-44B4-8401-B3D627B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研究從可觀察狀態出發，直接檢驗配置決策對 accuracy 與 token 的影響。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81061993-C2F3-47C2-B6B7-B1FE1B1D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可部署訊號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417E228E-2BBE-4B12-B867-9EDEEF2A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只使用 visible content。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不需要 hidden states，也不增加評分模型呼叫。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78D03DBA-6431-4C5D-A9F5-22C8F2AF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Policy-level evidence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BC8DF9A-1C95-439A-9E99-E9234F1E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比較 stop 與 continuation 的實際結果。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主要結論建立在 matched-cost accuracy 上。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C4D4CE61-0646-497A-A137-6ACE973D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可重現評估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1B8E8BC2-3BB9-4AA3-A4E6-C0FEDE9B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固定 manifest、raw action bank、parser audit、token accounting 與 clustered bootstrap。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B1C6C81E-38B9-7560-621D-5A151A79DF9B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18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證據範圍與下一步驗證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9646922E-A1F9-4B9A-86A7-8E31B7A5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主張限定於已測設定，不延伸為所有模型、任務或 test-time compute 動作。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6D78A5CD-EA79-437D-9766-277CFC9A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23975"/>
            <a:ext cx="11401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目前已完成 MATH-500、兩模型、固定 prefix / continuation budget 下的 confirmatory study。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0EFD09AD-C957-4466-9B7C-9C450126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目前可以主張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626B459-AFB0-4C30-85AC-A6408F3E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Visible progress 在本設定中具有 allocation value。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GPT 得到清楚 held-out 結果，兩模型 pooled CI 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DeepSeek 顯示一致方向，但可分配事件較少。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28CF168A-E7F3-43AB-A7A6-0EAEAA5A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381250"/>
            <a:ext cx="5537168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下一輪外部驗證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B819D16D-334F-4E53-B47F-90CA2580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3048000"/>
            <a:ext cx="553716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更換推理資料集。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測試不同 prefix budget 與模型。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加入預先給定的全域 token ledger，檢驗線上 budget control。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fld id="{CCF91274-D221-1BB4-3BF9-836E3AD31EBE}" type="slidenum">
              <a:rPr sz="1050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19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希望與老師確認的三個決策</a:t>
            </a:r>
          </a:p>
        </p:txBody>
      </p:sp>
      <p:sp>
        <p:nvSpPr>
          <p:cNvPr id="537" name="">
            <a:extLst xmlns:a="http://schemas.openxmlformats.org/drawingml/2006/main">
              <a:ext uri="{FF2B5EF4-FFF2-40B4-BE49-F238E27FC236}">
                <a16:creationId xmlns:a16="http://schemas.microsoft.com/office/drawing/2014/main" id="{D50E9A1B-8D05-4B33-B084-5E35F9F4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343650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C5C5C"/>
                </a:solidFill>
                <a:latin typeface="Heiti TC"/>
                <a:ea typeface="Heiti TC"/>
                <a:cs typeface="Heiti TC"/>
              </a:defRPr>
            </a:pPr>
            <a:r>
              <a:rPr sz="1125" b="0">
                <a:solidFill>
                  <a:srgbClr val="5C5C5C"/>
                </a:solidFill>
                <a:latin typeface="Heiti TC"/>
                <a:ea typeface="Heiti TC"/>
                <a:cs typeface="Heiti TC"/>
              </a:rPr>
              <a:t>目前一句話結論：看見模型走到哪裡後，再決定是否值得繼續投入運算。</a:t>
            </a:r>
          </a:p>
        </p:txBody>
      </p:sp>
      <p:sp>
        <p:nvSpPr>
          <p:cNvPr id="538" name="">
            <a:extLst xmlns:a="http://schemas.openxmlformats.org/drawingml/2006/main">
              <a:ext uri="{FF2B5EF4-FFF2-40B4-BE49-F238E27FC236}">
                <a16:creationId xmlns:a16="http://schemas.microsoft.com/office/drawing/2014/main" id="{6D706054-4D0C-47CD-A667-10E6F3F1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14014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核心方法與確認實驗已完成；接下來需要收斂論文定位與外部驗證範圍。</a:t>
            </a:r>
          </a:p>
        </p:txBody>
      </p:sp>
      <p:sp>
        <p:nvSpPr>
          <p:cNvPr id="539" name="">
            <a:extLst xmlns:a="http://schemas.openxmlformats.org/drawingml/2006/main">
              <a:ext uri="{FF2B5EF4-FFF2-40B4-BE49-F238E27FC236}">
                <a16:creationId xmlns:a16="http://schemas.microsoft.com/office/drawing/2014/main" id="{50D68D61-3181-4B19-B04C-94EF6B46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論文主軸</a:t>
            </a:r>
          </a:p>
        </p:txBody>
      </p:sp>
      <p:sp>
        <p:nvSpPr>
          <p:cNvPr id="540" name="">
            <a:extLst xmlns:a="http://schemas.openxmlformats.org/drawingml/2006/main">
              <a:ext uri="{FF2B5EF4-FFF2-40B4-BE49-F238E27FC236}">
                <a16:creationId xmlns:a16="http://schemas.microsoft.com/office/drawing/2014/main" id="{F1FD98B0-1993-425D-BA8A-F12DB9E1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 visible-progress allocation 作為主要方法。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Confidence audit 放在機制與限制。</a:t>
            </a:r>
          </a:p>
        </p:txBody>
      </p:sp>
      <p:sp>
        <p:nvSpPr>
          <p:cNvPr id="541" name="">
            <a:extLst xmlns:a="http://schemas.openxmlformats.org/drawingml/2006/main">
              <a:ext uri="{FF2B5EF4-FFF2-40B4-BE49-F238E27FC236}">
                <a16:creationId xmlns:a16="http://schemas.microsoft.com/office/drawing/2014/main" id="{CF2D2D46-1C64-4506-B1F1-B770F3C8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追加實驗</a:t>
            </a:r>
          </a:p>
        </p:txBody>
      </p:sp>
      <p:sp>
        <p:nvSpPr>
          <p:cNvPr id="542" name="">
            <a:extLst xmlns:a="http://schemas.openxmlformats.org/drawingml/2006/main">
              <a:ext uri="{FF2B5EF4-FFF2-40B4-BE49-F238E27FC236}">
                <a16:creationId xmlns:a16="http://schemas.microsoft.com/office/drawing/2014/main" id="{102C9469-A3E5-498E-873E-70CC4E6F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先跨資料集，或先測不同 prefix budget？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是否需要第三個模型？</a:t>
            </a:r>
          </a:p>
        </p:txBody>
      </p:sp>
      <p:sp>
        <p:nvSpPr>
          <p:cNvPr id="543" name="">
            <a:extLst xmlns:a="http://schemas.openxmlformats.org/drawingml/2006/main">
              <a:ext uri="{FF2B5EF4-FFF2-40B4-BE49-F238E27FC236}">
                <a16:creationId xmlns:a16="http://schemas.microsoft.com/office/drawing/2014/main" id="{25B202FD-4D35-4EBE-A2E3-C83A0D02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568732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D8DFF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3D8DFF"/>
                </a:solidFill>
                <a:latin typeface="Heiti TC"/>
                <a:ea typeface="Heiti TC"/>
                <a:cs typeface="Heiti TC"/>
              </a:rPr>
              <a:t>投稿敘事</a:t>
            </a:r>
          </a:p>
        </p:txBody>
      </p:sp>
      <p:sp>
        <p:nvSpPr>
          <p:cNvPr id="544" name="">
            <a:extLst xmlns:a="http://schemas.openxmlformats.org/drawingml/2006/main">
              <a:ext uri="{FF2B5EF4-FFF2-40B4-BE49-F238E27FC236}">
                <a16:creationId xmlns:a16="http://schemas.microsoft.com/office/drawing/2014/main" id="{4AF073F2-DCC1-4489-92CE-32D9035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90900"/>
            <a:ext cx="35687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定位為 black-box test-time compute allocation。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61616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61616"/>
                </a:solidFill>
                <a:latin typeface="Heiti TC"/>
                <a:ea typeface="Heiti TC"/>
                <a:cs typeface="Heiti TC"/>
              </a:rPr>
              <a:t>以成本匹配 intervention 為主要證據。</a:t>
            </a: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2026-09-17T19:08:06.1330000Z</dcterms:created>
  <dcterms:modified xsi:type="dcterms:W3CDTF">2026-09-17T19:08:06.1330000Z</dcterms:modified>
</coreProperties>
</file>